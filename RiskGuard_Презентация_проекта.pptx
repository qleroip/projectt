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6"/>
                </a:solidFill>
              </a:defRPr>
            </a:pPr>
            <a:r>
              <a:t>RiskGuard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496"/>
                </a:solidFill>
              </a:defRPr>
            </a:pPr>
            <a:r>
              <a:t>Система анализа и предотвращения операционных рисков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496"/>
                </a:solidFill>
              </a:defRPr>
            </a:pPr>
            <a:r>
              <a:t>1</a:t>
            </a:r>
          </a:p>
        </p:txBody>
      </p:sp>
      <p:pic>
        <p:nvPicPr>
          <p:cNvPr id="5" name="Picture 4" descr="riskgua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246" y="1032254"/>
            <a:ext cx="3256621" cy="48849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4173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1F36"/>
                </a:solidFill>
              </a:defRPr>
            </a:pPr>
            <a:r>
              <a:t>Web-панель риск-менеджера</a:t>
            </a:r>
          </a:p>
          <a:p>
            <a:pPr>
              <a:spcAft>
                <a:spcPts val="800"/>
              </a:spcAft>
              <a:defRPr sz="2000">
                <a:solidFill>
                  <a:srgbClr val="121F36"/>
                </a:solidFill>
              </a:defRPr>
            </a:pPr>
            <a:r>
              <a:t>Desktop-приложение эксперта</a:t>
            </a:r>
          </a:p>
          <a:p>
            <a:pPr>
              <a:spcAft>
                <a:spcPts val="800"/>
              </a:spcAft>
              <a:defRPr sz="2000">
                <a:solidFill>
                  <a:srgbClr val="121F36"/>
                </a:solidFill>
              </a:defRPr>
            </a:pPr>
            <a:r>
              <a:t>APK-приложение работника</a:t>
            </a:r>
          </a:p>
          <a:p>
            <a:pPr>
              <a:spcAft>
                <a:spcPts val="800"/>
              </a:spcAft>
              <a:defRPr sz="2000">
                <a:solidFill>
                  <a:srgbClr val="121F36"/>
                </a:solidFill>
              </a:defRPr>
            </a:pPr>
            <a:r>
              <a:t>Единый Flask API и общая база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6"/>
                </a:solidFill>
              </a:defRPr>
            </a:pPr>
            <a:r>
              <a:t>Проблема и цель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496"/>
                </a:solidFill>
              </a:defRPr>
            </a:pPr>
            <a:r>
              <a:t>Зачем нужна система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496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99" y="1417320"/>
            <a:ext cx="1090506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Операционные риски и инциденты должны фиксироваться в едином месте.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Менеджеру нужно управлять статусами, экспертами и мерами минимизации.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Эксперт должен видеть только назначенные ему риски.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Работник должен быстро отправлять инцидент с телефона.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6"/>
                </a:solidFill>
              </a:defRPr>
            </a:pPr>
            <a: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496"/>
                </a:solidFill>
              </a:defRPr>
            </a:pPr>
            <a:r>
              <a:t>Три клиента подключаются к одному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496"/>
                </a:solidFill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7D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A34A"/>
                </a:solidFill>
              </a:defRPr>
            </a:pPr>
            <a:r>
              <a:t>APK</a:t>
            </a:r>
          </a:p>
          <a:p>
            <a:pPr>
              <a:defRPr sz="1200">
                <a:solidFill>
                  <a:srgbClr val="607496"/>
                </a:solidFill>
              </a:defRPr>
            </a:pPr>
            <a:r>
              <a:t>Работник регистрирует инцидент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6304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7D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Web</a:t>
            </a:r>
          </a:p>
          <a:p>
            <a:pPr>
              <a:defRPr sz="1200">
                <a:solidFill>
                  <a:srgbClr val="607496"/>
                </a:solidFill>
              </a:defRPr>
            </a:pPr>
            <a:r>
              <a:t>Менеджер создает риск и управляет статусами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6304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7D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Desktop</a:t>
            </a:r>
          </a:p>
          <a:p>
            <a:pPr>
              <a:defRPr sz="1200">
                <a:solidFill>
                  <a:srgbClr val="607496"/>
                </a:solidFill>
              </a:defRPr>
            </a:pPr>
            <a:r>
              <a:t>Эксперт отправляет оценку риска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657600"/>
            <a:ext cx="5486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7D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0203D"/>
                </a:solidFill>
              </a:defRPr>
            </a:pPr>
            <a:r>
              <a:rPr dirty="0"/>
              <a:t>Flask API + SQLite</a:t>
            </a:r>
          </a:p>
          <a:p>
            <a:pPr algn="ctr">
              <a:defRPr sz="1200">
                <a:solidFill>
                  <a:srgbClr val="607496"/>
                </a:solidFill>
              </a:defRPr>
            </a:pPr>
            <a:r>
              <a:rPr dirty="0"/>
              <a:t>JWT, RBAC, CQRS, BFF, events, audit,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6"/>
                </a:solidFill>
              </a:defRPr>
            </a:pPr>
            <a:r>
              <a:t>Web: панель риск-менеджера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496"/>
                </a:solidFill>
              </a:defRPr>
            </a:pPr>
            <a:r>
              <a:t>Главное рабочее место управления рисками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496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Журнал рисков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Очередь инцидентов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План минимизации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Назначение эксперта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Отчеты и аудит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D7A36C9-4C90-4168-AE80-624470090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962" y="1121240"/>
            <a:ext cx="8447038" cy="4410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6"/>
                </a:solidFill>
              </a:defRPr>
            </a:pPr>
            <a:r>
              <a:t>APK работника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496"/>
                </a:solidFill>
              </a:defRPr>
            </a:pPr>
            <a:r>
              <a:t>Регистрация инцидента с телефона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496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4763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Вход</a:t>
            </a:r>
            <a:r>
              <a:rPr dirty="0"/>
              <a:t> и </a:t>
            </a:r>
            <a:r>
              <a:rPr dirty="0" err="1"/>
              <a:t>регистрация</a:t>
            </a:r>
            <a:r>
              <a:rPr dirty="0"/>
              <a:t> с </a:t>
            </a:r>
            <a:r>
              <a:rPr dirty="0" err="1"/>
              <a:t>одобрением</a:t>
            </a:r>
            <a:r>
              <a:rPr dirty="0"/>
              <a:t> </a:t>
            </a:r>
            <a:r>
              <a:rPr dirty="0" err="1"/>
              <a:t>администратора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другого</a:t>
            </a:r>
            <a:r>
              <a:rPr dirty="0"/>
              <a:t> ПК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Форма</a:t>
            </a:r>
            <a:r>
              <a:rPr dirty="0"/>
              <a:t> </a:t>
            </a:r>
            <a:r>
              <a:rPr dirty="0" err="1"/>
              <a:t>инцидента</a:t>
            </a:r>
            <a:r>
              <a:rPr dirty="0"/>
              <a:t>: </a:t>
            </a:r>
            <a:r>
              <a:rPr dirty="0" err="1"/>
              <a:t>название</a:t>
            </a:r>
            <a:r>
              <a:rPr dirty="0"/>
              <a:t>, </a:t>
            </a:r>
            <a:r>
              <a:rPr dirty="0" err="1"/>
              <a:t>описание</a:t>
            </a:r>
            <a:r>
              <a:rPr dirty="0"/>
              <a:t>, </a:t>
            </a:r>
            <a:r>
              <a:rPr dirty="0" err="1"/>
              <a:t>категория</a:t>
            </a:r>
            <a:r>
              <a:rPr dirty="0"/>
              <a:t>, </a:t>
            </a:r>
            <a:r>
              <a:rPr dirty="0" err="1"/>
              <a:t>дата</a:t>
            </a:r>
            <a:r>
              <a:rPr dirty="0"/>
              <a:t>, </a:t>
            </a:r>
            <a:r>
              <a:rPr dirty="0" err="1"/>
              <a:t>ущерб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Инцидент</a:t>
            </a:r>
            <a:r>
              <a:rPr dirty="0"/>
              <a:t> </a:t>
            </a:r>
            <a:r>
              <a:rPr dirty="0" err="1"/>
              <a:t>уходит</a:t>
            </a:r>
            <a:r>
              <a:rPr dirty="0"/>
              <a:t> в web-</a:t>
            </a:r>
            <a:r>
              <a:rPr dirty="0" err="1"/>
              <a:t>очередь</a:t>
            </a: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33FDED-F4BC-4406-8F44-D7985945E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819" y="228600"/>
            <a:ext cx="3412181" cy="61044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7D462EE-7D0A-4215-84C0-8D2B70CB9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426" y="228600"/>
            <a:ext cx="3439957" cy="61044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6"/>
                </a:solidFill>
              </a:defRPr>
            </a:pPr>
            <a:r>
              <a:t>Очередь инцидентов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496"/>
                </a:solidFill>
              </a:defRPr>
            </a:pPr>
            <a:r>
              <a:t>Как заявка работника превращается в риск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496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99" y="1417320"/>
            <a:ext cx="1077806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Работник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Менеджер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входящий</a:t>
            </a:r>
            <a:r>
              <a:rPr dirty="0"/>
              <a:t> </a:t>
            </a:r>
            <a:r>
              <a:rPr dirty="0" err="1"/>
              <a:t>инцидент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нажимает</a:t>
            </a:r>
            <a:r>
              <a:rPr dirty="0"/>
              <a:t> '</a:t>
            </a: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'.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появляется</a:t>
            </a:r>
            <a:r>
              <a:rPr dirty="0"/>
              <a:t> в </a:t>
            </a:r>
            <a:r>
              <a:rPr dirty="0" err="1"/>
              <a:t>журнале</a:t>
            </a:r>
            <a:r>
              <a:rPr dirty="0"/>
              <a:t> и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назначен</a:t>
            </a:r>
            <a:r>
              <a:rPr dirty="0"/>
              <a:t> </a:t>
            </a:r>
            <a:r>
              <a:rPr dirty="0" err="1"/>
              <a:t>эксперту</a:t>
            </a:r>
            <a:r>
              <a:rPr dirty="0"/>
              <a:t>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6CAD8E3-5509-4D48-8CAD-B0C342BE8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66" y="3474720"/>
            <a:ext cx="11032067" cy="22006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6"/>
                </a:solidFill>
              </a:defRPr>
            </a:pPr>
            <a:r>
              <a:t>Создание и ведение риска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496"/>
                </a:solidFill>
              </a:defRPr>
            </a:pPr>
            <a:r>
              <a:t>Менеджер контролирует жизненный цикл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496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733" y="1527387"/>
            <a:ext cx="3699933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Статусы</a:t>
            </a:r>
            <a:r>
              <a:rPr dirty="0"/>
              <a:t>: CREATED, ACTIVE, COMPLETED, CANCELLED</a:t>
            </a:r>
            <a:r>
              <a:rPr lang="en-US" dirty="0"/>
              <a:t>.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/>
              <a:t>ACTIVE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назначенного</a:t>
            </a:r>
            <a:r>
              <a:rPr dirty="0"/>
              <a:t> </a:t>
            </a:r>
            <a:r>
              <a:rPr dirty="0" err="1"/>
              <a:t>эксперта</a:t>
            </a:r>
            <a:r>
              <a:rPr lang="en-US" dirty="0"/>
              <a:t>.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Завершенные</a:t>
            </a:r>
            <a:r>
              <a:rPr dirty="0"/>
              <a:t> и </a:t>
            </a:r>
            <a:r>
              <a:rPr dirty="0" err="1"/>
              <a:t>отмененные</a:t>
            </a:r>
            <a:r>
              <a:rPr dirty="0"/>
              <a:t> </a:t>
            </a:r>
            <a:r>
              <a:rPr dirty="0" err="1"/>
              <a:t>риски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вернуть</a:t>
            </a:r>
            <a:r>
              <a:rPr dirty="0"/>
              <a:t> в </a:t>
            </a:r>
            <a:r>
              <a:rPr dirty="0" err="1"/>
              <a:t>работу</a:t>
            </a:r>
            <a:r>
              <a:rPr lang="en-US" dirty="0"/>
              <a:t>.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Меры</a:t>
            </a:r>
            <a:r>
              <a:rPr dirty="0"/>
              <a:t> </a:t>
            </a:r>
            <a:r>
              <a:rPr dirty="0" err="1"/>
              <a:t>минимизации</a:t>
            </a:r>
            <a:r>
              <a:rPr dirty="0"/>
              <a:t> </a:t>
            </a:r>
            <a:r>
              <a:rPr dirty="0" err="1"/>
              <a:t>хранятся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с </a:t>
            </a:r>
            <a:r>
              <a:rPr dirty="0" err="1"/>
              <a:t>риском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C4BF75F-3E1A-434F-AB0F-81ECC91EF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297" y="1457374"/>
            <a:ext cx="8569703" cy="37837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6"/>
                </a:solidFill>
              </a:defRPr>
            </a:pPr>
            <a:r>
              <a:t>Desktop эксперта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496"/>
                </a:solidFill>
              </a:defRPr>
            </a:pPr>
            <a:r>
              <a:t>Отдельное приложение только для оценки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496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534" y="1429173"/>
            <a:ext cx="369805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Эксперт</a:t>
            </a:r>
            <a:r>
              <a:rPr dirty="0"/>
              <a:t> </a:t>
            </a:r>
            <a:r>
              <a:rPr dirty="0" err="1"/>
              <a:t>видит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назначенные</a:t>
            </a:r>
            <a:r>
              <a:rPr dirty="0"/>
              <a:t> </a:t>
            </a:r>
            <a:r>
              <a:rPr dirty="0" err="1"/>
              <a:t>ему</a:t>
            </a:r>
            <a:r>
              <a:rPr dirty="0"/>
              <a:t> </a:t>
            </a:r>
            <a:r>
              <a:rPr dirty="0" err="1"/>
              <a:t>риски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назначенных</a:t>
            </a:r>
            <a:r>
              <a:rPr dirty="0"/>
              <a:t> </a:t>
            </a:r>
            <a:r>
              <a:rPr dirty="0" err="1"/>
              <a:t>рисков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 </a:t>
            </a:r>
            <a:r>
              <a:rPr dirty="0" err="1"/>
              <a:t>отправленных</a:t>
            </a:r>
            <a:r>
              <a:rPr dirty="0"/>
              <a:t> </a:t>
            </a:r>
            <a:r>
              <a:rPr dirty="0" err="1"/>
              <a:t>оценок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Профиль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статистику</a:t>
            </a:r>
            <a:r>
              <a:rPr dirty="0"/>
              <a:t> </a:t>
            </a:r>
            <a:r>
              <a:rPr dirty="0" err="1"/>
              <a:t>эксперта</a:t>
            </a: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9A6D85C-5993-48E6-8DBF-B140F0055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586" y="1109133"/>
            <a:ext cx="8248414" cy="46397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6"/>
                </a:solidFill>
              </a:defRPr>
            </a:pPr>
            <a:r>
              <a:t>Экспертная оценка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496"/>
                </a:solidFill>
              </a:defRPr>
            </a:pPr>
            <a:r>
              <a:t>Вероятность, влияние и рекомендация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496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Вероятность: от 1 до 5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Влияние: от 1 до 5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Итоговый уровень рассчитывается системой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Рекомендация эксперта сохраняется в API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31D93DD-FE22-4EFF-B350-85AD3417B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573" y="1001268"/>
            <a:ext cx="5884427" cy="46143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6"/>
                </a:solidFill>
              </a:defRPr>
            </a:pPr>
            <a:r>
              <a:t>Фоновые задачи и аудит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496"/>
                </a:solidFill>
              </a:defRPr>
            </a:pPr>
            <a:r>
              <a:t>Системные процессы и журнал действий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496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933" y="1366667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Очередь</a:t>
            </a:r>
            <a:r>
              <a:rPr dirty="0"/>
              <a:t> </a:t>
            </a:r>
            <a:r>
              <a:rPr dirty="0" err="1"/>
              <a:t>событий</a:t>
            </a:r>
            <a:r>
              <a:rPr dirty="0"/>
              <a:t> </a:t>
            </a:r>
            <a:r>
              <a:rPr dirty="0" err="1"/>
              <a:t>domain_event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Обновление</a:t>
            </a:r>
            <a:r>
              <a:rPr dirty="0"/>
              <a:t> read-model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Журнал</a:t>
            </a:r>
            <a:r>
              <a:rPr dirty="0"/>
              <a:t> </a:t>
            </a:r>
            <a:r>
              <a:rPr dirty="0" err="1"/>
              <a:t>аудита</a:t>
            </a:r>
            <a:r>
              <a:rPr dirty="0"/>
              <a:t> </a:t>
            </a:r>
            <a:r>
              <a:rPr dirty="0" err="1"/>
              <a:t>действий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/>
              <a:t>Heatmap API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частых</a:t>
            </a:r>
            <a:r>
              <a:rPr dirty="0"/>
              <a:t> и </a:t>
            </a:r>
            <a:r>
              <a:rPr dirty="0" err="1"/>
              <a:t>тяжелых</a:t>
            </a:r>
            <a:r>
              <a:rPr dirty="0"/>
              <a:t> </a:t>
            </a:r>
            <a:r>
              <a:rPr dirty="0" err="1"/>
              <a:t>запросов</a:t>
            </a: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8B8D507-3A74-469B-87D2-029B6A6EE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178" y="0"/>
            <a:ext cx="7394822" cy="269946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9CDA755-4204-4B4E-A0E2-67E7909A5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578" y="2682536"/>
            <a:ext cx="7242422" cy="37535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6"/>
                </a:solidFill>
              </a:defRPr>
            </a:pPr>
            <a:r>
              <a:t>Отчеты и безопасность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496"/>
                </a:solidFill>
              </a:defRPr>
            </a:pPr>
            <a:r>
              <a:t>Что закрывает управленческую часть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496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398780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/>
              <a:t>CSV-</a:t>
            </a:r>
            <a:r>
              <a:rPr dirty="0" err="1"/>
              <a:t>экспорт</a:t>
            </a:r>
            <a:r>
              <a:rPr dirty="0"/>
              <a:t> </a:t>
            </a:r>
            <a:r>
              <a:rPr dirty="0" err="1"/>
              <a:t>отчета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/>
              <a:t>JWT </a:t>
            </a:r>
            <a:r>
              <a:rPr dirty="0" err="1"/>
              <a:t>авторизация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/>
              <a:t>RBAC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ролям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Одобрение</a:t>
            </a:r>
            <a:r>
              <a:rPr dirty="0"/>
              <a:t> </a:t>
            </a:r>
            <a:r>
              <a:rPr dirty="0" err="1"/>
              <a:t>новых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</a:t>
            </a:r>
            <a:r>
              <a:rPr dirty="0" err="1"/>
              <a:t>администратором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rPr dirty="0" err="1"/>
              <a:t>Запрет</a:t>
            </a:r>
            <a:r>
              <a:rPr dirty="0"/>
              <a:t> </a:t>
            </a:r>
            <a:r>
              <a:rPr dirty="0" err="1"/>
              <a:t>чужих</a:t>
            </a:r>
            <a:r>
              <a:rPr dirty="0"/>
              <a:t> </a:t>
            </a:r>
            <a:r>
              <a:rPr dirty="0" err="1"/>
              <a:t>действий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API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A6DABB-CF98-42B0-8144-B908EDF5A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"/>
            <a:ext cx="6096000" cy="376252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CF5ECA9-75D1-44CF-94A7-7C97A82BB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3" y="3518047"/>
            <a:ext cx="6182466" cy="33399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6"/>
                </a:solidFill>
              </a:defRPr>
            </a:pPr>
            <a:r>
              <a:t>Сборки и демонстрация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496"/>
                </a:solidFill>
              </a:defRPr>
            </a:pPr>
            <a:r>
              <a:t>Что передается для запуска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496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web/ запускается как сервер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release/apk/RiskGuard-Worker.apk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release/exe/RiskGuard-Desktop-Setup.exe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Документация и презентация лежат в корне проекта</a:t>
            </a:r>
          </a:p>
          <a:p>
            <a:pPr>
              <a:spcAft>
                <a:spcPts val="800"/>
              </a:spcAft>
              <a:defRPr sz="1800">
                <a:solidFill>
                  <a:srgbClr val="121F36"/>
                </a:solidFill>
              </a:defRPr>
            </a:pPr>
            <a:r>
              <a:t>На другом ПК APK указывает IP web-сервера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EBA5784-D1C8-41ED-9BD7-637458EDA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3850681"/>
            <a:ext cx="10795000" cy="1501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6"/>
                </a:solidFill>
              </a:defRPr>
            </a:pPr>
            <a: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496"/>
                </a:solidFill>
              </a:defRPr>
            </a:pPr>
            <a:r>
              <a:t>Что показывает RiskGuard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496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9875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21F36"/>
                </a:solidFill>
              </a:defRPr>
            </a:pPr>
            <a:r>
              <a:t>Полный путь данных: APK -&gt; Web/API -&gt; Desktop -&gt; Web</a:t>
            </a:r>
          </a:p>
          <a:p>
            <a:pPr>
              <a:spcAft>
                <a:spcPts val="800"/>
              </a:spcAft>
              <a:defRPr sz="2200">
                <a:solidFill>
                  <a:srgbClr val="121F36"/>
                </a:solidFill>
              </a:defRPr>
            </a:pPr>
            <a:r>
              <a:t>Разные роли и разные клиенты</a:t>
            </a:r>
          </a:p>
          <a:p>
            <a:pPr>
              <a:spcAft>
                <a:spcPts val="800"/>
              </a:spcAft>
              <a:defRPr sz="2200">
                <a:solidFill>
                  <a:srgbClr val="121F36"/>
                </a:solidFill>
              </a:defRPr>
            </a:pPr>
            <a:r>
              <a:t>Единая база и единая логика доступа</a:t>
            </a:r>
          </a:p>
          <a:p>
            <a:pPr>
              <a:spcAft>
                <a:spcPts val="800"/>
              </a:spcAft>
              <a:defRPr sz="2200">
                <a:solidFill>
                  <a:srgbClr val="121F36"/>
                </a:solidFill>
              </a:defRPr>
            </a:pPr>
            <a:r>
              <a:t>CQRS, BFF, events, audit и reporting</a:t>
            </a:r>
          </a:p>
          <a:p>
            <a:pPr>
              <a:spcAft>
                <a:spcPts val="800"/>
              </a:spcAft>
              <a:defRPr sz="2200">
                <a:solidFill>
                  <a:srgbClr val="121F36"/>
                </a:solidFill>
              </a:defRPr>
            </a:pPr>
            <a:r>
              <a:t>Готовые сборки для демонстрации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424</Words>
  <Application>Microsoft Office PowerPoint</Application>
  <PresentationFormat>Широкоэкранный</PresentationFormat>
  <Paragraphs>99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2026-05-04T21:30:38Z</dcterms:modified>
  <cp:category/>
</cp:coreProperties>
</file>